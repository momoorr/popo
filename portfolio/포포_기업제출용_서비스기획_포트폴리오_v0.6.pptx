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7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" y="17373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852160" y="45720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149840" y="1371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83280" y="42062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0" y="10058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3840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12080" y="6400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509760" y="34747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43200" y="274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40880" y="31089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5943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869680" y="55778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03120" y="23774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52120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698480" y="20116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31920" y="4846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0" y="16459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463040" y="44805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760720" y="12801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58400" y="41148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9144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89520" y="37490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548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120640" y="33832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1828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651760" y="30175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49440" y="58521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82880" y="26517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480560" y="54864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778240" y="22860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011680" y="5120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09360" y="19202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607040" y="47548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840480" y="1554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754112" y="594360"/>
            <a:ext cx="3977640" cy="3977640"/>
          </a:xfrm>
          <a:prstGeom prst="ellipse">
            <a:avLst/>
          </a:prstGeom>
          <a:solidFill>
            <a:srgbClr val="24204A"/>
          </a:solidFill>
          <a:ln w="12700">
            <a:solidFill>
              <a:srgbClr val="2420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366760" y="1188720"/>
            <a:ext cx="2807208" cy="2807208"/>
          </a:xfrm>
          <a:prstGeom prst="ellipse">
            <a:avLst/>
          </a:prstGeom>
          <a:solidFill>
            <a:srgbClr val="4B3F77"/>
          </a:solidFill>
          <a:ln w="12700">
            <a:solidFill>
              <a:srgbClr val="4B3F7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778240" y="1627632"/>
            <a:ext cx="1901952" cy="1901952"/>
          </a:xfrm>
          <a:prstGeom prst="ellipse">
            <a:avLst/>
          </a:prstGeom>
          <a:solidFill>
            <a:srgbClr val="635490"/>
          </a:solidFill>
          <a:ln w="12700">
            <a:solidFill>
              <a:srgbClr val="63549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946136" y="932688"/>
            <a:ext cx="373075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65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365" dirty="0"/>
          </a:p>
        </p:txBody>
      </p:sp>
      <p:sp>
        <p:nvSpPr>
          <p:cNvPr id="42" name="Text 40"/>
          <p:cNvSpPr/>
          <p:nvPr/>
        </p:nvSpPr>
        <p:spPr>
          <a:xfrm>
            <a:off x="10954512" y="4453128"/>
            <a:ext cx="2743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9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9" dirty="0"/>
          </a:p>
        </p:txBody>
      </p:sp>
      <p:sp>
        <p:nvSpPr>
          <p:cNvPr id="43" name="Text 41"/>
          <p:cNvSpPr/>
          <p:nvPr/>
        </p:nvSpPr>
        <p:spPr>
          <a:xfrm>
            <a:off x="9930384" y="566928"/>
            <a:ext cx="230429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1" b="1" dirty="0">
                <a:solidFill>
                  <a:srgbClr val="F5DDA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461" dirty="0"/>
          </a:p>
        </p:txBody>
      </p:sp>
      <p:sp>
        <p:nvSpPr>
          <p:cNvPr id="44" name="Text 42"/>
          <p:cNvSpPr/>
          <p:nvPr/>
        </p:nvSpPr>
        <p:spPr>
          <a:xfrm>
            <a:off x="786384" y="7589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/  PRODUCT STRATEGY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808" y="1490472"/>
            <a:ext cx="681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포포</a:t>
            </a:r>
            <a:endParaRPr lang="en-US" sz="5700" dirty="0"/>
          </a:p>
        </p:txBody>
      </p:sp>
      <p:sp>
        <p:nvSpPr>
          <p:cNvPr id="46" name="Text 44"/>
          <p:cNvSpPr/>
          <p:nvPr/>
        </p:nvSpPr>
        <p:spPr>
          <a:xfrm>
            <a:off x="822960" y="2679192"/>
            <a:ext cx="6812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나를 읽는 AI 사주 상담</a:t>
            </a:r>
          </a:p>
        </p:txBody>
      </p:sp>
      <p:sp>
        <p:nvSpPr>
          <p:cNvPr id="47" name="Text 45"/>
          <p:cNvSpPr/>
          <p:nvPr/>
        </p:nvSpPr>
        <p:spPr>
          <a:xfrm>
            <a:off x="832104" y="431596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AD4E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B2C AI 사주·명리 상담 플랫폼  ·  서비스기획 포트폴리오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41248" y="5202936"/>
            <a:ext cx="4791456" cy="448056"/>
          </a:xfrm>
          <a:prstGeom prst="roundRect">
            <a:avLst>
              <a:gd name="adj" fmla="val 34694"/>
            </a:avLst>
          </a:prstGeom>
          <a:solidFill>
            <a:srgbClr val="3D355F"/>
          </a:solidFill>
          <a:ln w="12700">
            <a:solidFill>
              <a:srgbClr val="3D355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24128" y="530352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EE5F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v0.6 브랜드 개정   |   기획·인터랙티브 목업 단계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92794" y="2954244"/>
            <a:ext cx="1550091" cy="1550091"/>
          </a:xfrm>
          <a:prstGeom prst="ellipse">
            <a:avLst/>
          </a:prstGeom>
          <a:solidFill>
            <a:srgbClr val="DAD2FA"/>
          </a:solidFill>
          <a:ln w="1905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 rot="20100000">
            <a:off x="9168872" y="2364638"/>
            <a:ext cx="427939" cy="1027054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 rot="1500000">
            <a:off x="10224455" y="2412187"/>
            <a:ext cx="399410" cy="969996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9558772" y="3696005"/>
            <a:ext cx="142646" cy="142646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0138867" y="3696005"/>
            <a:ext cx="142646" cy="142646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9530243" y="3667476"/>
            <a:ext cx="42794" cy="427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0119848" y="3667476"/>
            <a:ext cx="42794" cy="427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9349557" y="4000317"/>
            <a:ext cx="285293" cy="114117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0281514" y="4000317"/>
            <a:ext cx="285293" cy="114117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834555" y="3943259"/>
            <a:ext cx="2662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72" b="1" dirty="0">
                <a:solidFill>
                  <a:srgbClr val="39325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⌣</a:t>
            </a:r>
            <a:endParaRPr lang="en-US" sz="1872" dirty="0"/>
          </a:p>
        </p:txBody>
      </p:sp>
      <p:sp>
        <p:nvSpPr>
          <p:cNvPr id="60" name="Text 58"/>
          <p:cNvSpPr/>
          <p:nvPr/>
        </p:nvSpPr>
        <p:spPr>
          <a:xfrm>
            <a:off x="9758477" y="2925714"/>
            <a:ext cx="361371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8855050" y="3363163"/>
            <a:ext cx="273881" cy="251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6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6" dirty="0"/>
          </a:p>
        </p:txBody>
      </p:sp>
      <p:sp>
        <p:nvSpPr>
          <p:cNvPr id="62" name="Text 60"/>
          <p:cNvSpPr/>
          <p:nvPr/>
        </p:nvSpPr>
        <p:spPr>
          <a:xfrm>
            <a:off x="10728472" y="3068361"/>
            <a:ext cx="251058" cy="230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92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592" dirty="0"/>
          </a:p>
        </p:txBody>
      </p:sp>
      <p:sp>
        <p:nvSpPr>
          <p:cNvPr id="63" name="Text 61"/>
          <p:cNvSpPr/>
          <p:nvPr/>
        </p:nvSpPr>
        <p:spPr>
          <a:xfrm>
            <a:off x="832104" y="641908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AA4C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실제 사주 계산·AI 모델 미연결 / 사용자 테스트 미실시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61320" y="64190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AA4C1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2026.10.29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 / 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기업이 보게 될 것은 “운세 앱”이 아니라 기획의 판단 과정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정의부터 요구사항, 우선순위, UX, 검증 설계를 하나의 제품으로 연결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467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사용자가 어려워하는가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가설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5351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3639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13639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시장·경쟁 분석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3639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있는 기능과 빈틈 구분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2724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1868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근거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523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6811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46811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요구사항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6811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범위·예외·정책·QA 연결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5896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040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1695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9983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79983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구조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9983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IA·플로우·화면 정책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9068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8212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설계 시안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948672" y="2084832"/>
            <a:ext cx="2185416" cy="3072384"/>
          </a:xfrm>
          <a:prstGeom prst="roundRect">
            <a:avLst>
              <a:gd name="adj" fmla="val 9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131552" y="2331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10131552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MVP·실험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131552" y="3511296"/>
            <a:ext cx="1792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무엇을 먼저 구현·검증할까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22408" y="4553712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213848" y="4590288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계획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" y="5577840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실제로 완료한 범위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17520" y="555955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 기반 기획 자료 · 클릭 가능한 UX 목업 · PPT   /   실제 역법·AI·사용자 테스트는 진행 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 /  MARKET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사주·캐릭터·AI만으로는 차별화하기 어렵다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 다른 서비스가 제공하는 기능과, 우리가 검증해야 할 경험을 분리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938528"/>
            <a:ext cx="5422392" cy="3008376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63056" y="1938528"/>
            <a:ext cx="5422392" cy="3008376"/>
          </a:xfrm>
          <a:prstGeom prst="roundRect">
            <a:avLst>
              <a:gd name="adj" fmla="val 6687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50392" y="2203704"/>
            <a:ext cx="1353312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22402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공개 기능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615184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삐삐사주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6112" y="3182112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픽셀 캐릭터 카드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사주 심화·섹션별 풀이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오늘의 운세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28232" y="2203704"/>
            <a:ext cx="1353312" cy="310896"/>
          </a:xfrm>
          <a:prstGeom prst="roundRect">
            <a:avLst>
              <a:gd name="adj" fmla="val 47059"/>
            </a:avLst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22402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8F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공개 기능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19088" y="2615184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포스텔러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64808" y="3182112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사주·타로·토정비결 등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포스텔러 AI·만세력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 다양한 테마별 콘텐츠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" y="5266944"/>
            <a:ext cx="10332720" cy="603504"/>
          </a:xfrm>
          <a:prstGeom prst="roundRect">
            <a:avLst>
              <a:gd name="adj" fmla="val 28788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5385816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포포의 차별화 가설     “명식 → 쉽게 이해 → 근거 확인 → 내 질문으로 상담”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4944" y="612648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근거: ppippi.me/about · app.forceteller.com (2026.10.29 확인)   |   세부 UX 우위는 사용자 검증 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 /  PROBLEM HYPOTHESES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사용자가 겪을 수 있는 세 가지 장벽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인터뷰 전이므로 모두 제품 가설로 관리 — 확인된 고객 인사이트로 표현하지 않음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50976" y="2386584"/>
            <a:ext cx="521208" cy="521208"/>
          </a:xfrm>
          <a:prstGeom prst="ellipse">
            <a:avLst/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24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용어의 장벽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명식·일간·십성의 뜻이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사용자에게 낯설 수 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418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98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쉬운 해설 + 용어 설명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37176" y="2386584"/>
            <a:ext cx="521208" cy="521208"/>
          </a:xfrm>
          <a:prstGeom prst="ellipse">
            <a:avLst/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286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탐색의 장벽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8463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없는 긴 풀이를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읽어야 할 수 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280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560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주제별 진입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2075688"/>
            <a:ext cx="3611880" cy="3328416"/>
          </a:xfrm>
          <a:prstGeom prst="roundRect">
            <a:avLst>
              <a:gd name="adj" fmla="val 60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23376" y="2386584"/>
            <a:ext cx="521208" cy="521208"/>
          </a:xfrm>
          <a:prstGeom prst="ellipse">
            <a:avLst/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814816" y="249631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대화의 단절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32520" y="3593592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풀이를 읽고 생긴 질문을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다시 처음부터 설명해야 한다.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14232" y="4736592"/>
            <a:ext cx="3090672" cy="402336"/>
          </a:xfrm>
          <a:prstGeom prst="roundRect">
            <a:avLst>
              <a:gd name="adj" fmla="val 29545"/>
            </a:avLst>
          </a:prstGeom>
          <a:solidFill>
            <a:srgbClr val="EDF8F4"/>
          </a:solidFill>
          <a:ln w="12700">
            <a:solidFill>
              <a:srgbClr val="EDF8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842248" y="479145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 → 문맥 유지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90702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질문 : 기존 앱에서 정말 어려운 부분은 어디인가? 우리 IA와 풀이 방식이 과제 성공률을 높이는가?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 /  TARGET JOBS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3개의 사용자 가설, 1개의 핵심 사용 목적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타깃은 개인화 상담 탐색형이며, 사용자 조사 전의 가설 페르소나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77824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14984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질문 탐색형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직업·연애·재물 등의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구체적인 질문을 깊이 탐색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CORE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73168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10328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 이해형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전문 용어·명식 근거·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심화 이론을 이해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3168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21624" y="2057400"/>
            <a:ext cx="3621024" cy="2999232"/>
          </a:xfrm>
          <a:prstGeom prst="roundRect">
            <a:avLst>
              <a:gd name="adj" fmla="val 6707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68512" y="2359152"/>
            <a:ext cx="557784" cy="5577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805672" y="246888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50224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가벼운 이용형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59368" y="369417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캐릭터·오늘 운세·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새해 콘텐츠를 짧게 탐색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68512" y="4617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4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" y="5440680"/>
            <a:ext cx="10890504" cy="676656"/>
          </a:xfrm>
          <a:prstGeom prst="roundRect">
            <a:avLst>
              <a:gd name="adj" fmla="val 2432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05840" y="5577840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JTBD   “궁금한 주제를 쉽게 찾고 → 왜 그런 해석인지 이해하고 → 후속 질문하고 싶다.”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 / 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포포의 핵심 경험은 “해석의 연속성”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기능별 메뉴를 나열하지 않고, 같은 명식 데이터를 참조하는 일관된 설명을 제공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① 검증된 명식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역법 엔진이 계산한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구조화된 데이터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36976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65576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94176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② 쉬운 풀이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보는 명리학도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핵심부터 이해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③ 근거 보기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사용한 요소와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해석 규칙을 구분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7424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2788920" cy="2231136"/>
          </a:xfrm>
          <a:prstGeom prst="roundRect">
            <a:avLst>
              <a:gd name="adj" fmla="val 9016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64624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④ AI 후속 질문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64624" y="3364992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선택한 주제와 명식을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상담에 전달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제품 전략 가설 : “더 많은 운세”보다 “이해하고 계속 질문하게 만드는 흐름”이 사용자 가치를 높인다.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9070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명리학은 과학적으로 미래 예측 능력이 검증된 방법이 아님. 계산값과 전통 해석, 현실적 사실을 구분한다.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 /  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기능이 많아질수록, 찾기 쉬운 분류가 먼저다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요청한 운세 콘텐츠를 4개의 진입 그룹으로 정리 (v0.6 브랜드 개정)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9536" y="2249424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2184" y="221284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72184" y="2734056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 · 오행 · 십성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기본/심화 해석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2249424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212848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운의 흐름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2734056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세운 · 올해 총운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운세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9536" y="4050792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72184" y="4014216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관심 주제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72184" y="4535424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연애 · 금전 · 인간관계 · 직업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학업 · 재회 · 생활·건강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3813048"/>
            <a:ext cx="5376672" cy="1609344"/>
          </a:xfrm>
          <a:prstGeom prst="roundRect">
            <a:avLst>
              <a:gd name="adj" fmla="val 12500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73952" y="4050792"/>
            <a:ext cx="448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014216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새해 특집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535424"/>
            <a:ext cx="4123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 · 음력 12개월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계산/판본 검증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879592"/>
            <a:ext cx="10652760" cy="329184"/>
          </a:xfrm>
          <a:prstGeom prst="roundRect">
            <a:avLst>
              <a:gd name="adj" fmla="val 33333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4400" y="594360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세운 = 1년 계산의 전문 표현   /   올해 총운 = 같은 세운 데이터의 쉬운 요약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 /  FEATURE 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 요청 기능은 모두 포착하되, 한 번에 만들지 않는다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 기능에 필요한 계산/콘텐츠 검증 수준에 따라 단계적으로 공개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" y="1956816"/>
            <a:ext cx="10753344" cy="484632"/>
          </a:xfrm>
          <a:prstGeom prst="roundRect">
            <a:avLst>
              <a:gd name="adj" fmla="val 18868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86968" y="2057400"/>
            <a:ext cx="3264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콘텐츠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25112" y="2057400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07808" y="20574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96528" y="205740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전제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" y="2459736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2569464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25112" y="25694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 설명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07808" y="256946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96528" y="256946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 중심 해석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" y="3044952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315468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연애 · 금전 · 인간관계 · 직업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25112" y="31546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주제별 풀이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07808" y="315468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96528" y="315468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v0.3 유지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" y="3630168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86968" y="373989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학업 · 재회 · 생활·건강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25112" y="373989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안전 가이드 포함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07808" y="373989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제안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739896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 콘텐츠 검토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" y="4215384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4325112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운세 · 일주 캐릭터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25112" y="432511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재방문·친밀감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07808" y="4325112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96528" y="432511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일운/60개 ID 검증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" y="4800600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86968" y="4910328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세운 · 올해 총운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25112" y="4910328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연간 전문/쉬운 요약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07808" y="491032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P1~P2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96528" y="49103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연간 데이터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" y="5385816"/>
            <a:ext cx="10753344" cy="548640"/>
          </a:xfrm>
          <a:prstGeom prst="roundRect">
            <a:avLst>
              <a:gd name="adj" fmla="val 8333"/>
            </a:avLst>
          </a:prstGeom>
          <a:solidFill>
            <a:srgbClr val="F5F1F9"/>
          </a:solidFill>
          <a:ln w="12700">
            <a:solidFill>
              <a:srgbClr val="F5F1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5495544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토정비결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25112" y="549554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장기·새해 특집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07808" y="549554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P2 제안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96528" y="5495544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계산 정책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4672" y="608990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운세의 종류는 같아도 계산 원리는 다를 수 있음 → 카테고리 개수보다 계산·콘텐츠 신뢰 정책이 우선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 /  ROADMAP TRADE-OFF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기획자가 보여줘야 할 선택: 무엇을 “안” 만드는가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P0를 작게 유지해야 실제 사용자 경험과 품질을 먼저 검증할 수 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7824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7824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경험 검증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86968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96112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출생 입력 · 명식 계산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기본/심화 풀이 · AI 상담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비회원 체험 · 오류 처리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87552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사용자 여정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44568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91456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91456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친밀감·재방문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00600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 캐릭터 · 오늘의 운세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타로 · 회원/기록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 콘텐츠 확장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9744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01184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데이터·이용 정책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58200" y="2057400"/>
            <a:ext cx="3611880" cy="3602736"/>
          </a:xfrm>
          <a:prstGeom prst="roundRect">
            <a:avLst>
              <a:gd name="adj" fmla="val 5584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05088" y="2295144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05088" y="287121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심화·특집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714232" y="3474720"/>
            <a:ext cx="3081528" cy="0"/>
          </a:xfrm>
          <a:prstGeom prst="line">
            <a:avLst/>
          </a:prstGeom>
          <a:noFill/>
          <a:ln w="15240">
            <a:solidFill>
              <a:srgbClr val="D8D1E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23376" y="3685032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대운 · 세운 확장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 실제 계산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궁합 · 시기별 심화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23376" y="5212080"/>
            <a:ext cx="2340864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814816" y="524865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별도 규칙 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" y="5971032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범위 변경 사항은 PRD v0.6 브랜드 개정으로 관리하며, PRD v0.3의 기존 확정 P0는 임의 변경하지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 /  CORE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처음 들어와도 길을 잃지 않는 흐름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최초 진입 시 결과를 먼저, 사용자가 원하는 깊이만큼 더 내려가도록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가치·CTA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6896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834640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1752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26664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26664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양음력·시간 모름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5192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202936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85816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94960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원국·불확실성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33488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571232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54112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63256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풀이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63256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카테고리·심화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01784" y="33284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939528" y="2423160"/>
            <a:ext cx="2221992" cy="2276856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122408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31552" y="3127248"/>
            <a:ext cx="1837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131552" y="3904488"/>
            <a:ext cx="18470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주제 전달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" y="5239512"/>
            <a:ext cx="10515600" cy="640080"/>
          </a:xfrm>
          <a:prstGeom prst="roundRect">
            <a:avLst>
              <a:gd name="adj" fmla="val 2571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24128" y="5404104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측정 설계    입력 완료율  ·  풀이 진입률  ·  심화 보기 비율  ·  AI 상담 전환율  ·  후속 질문률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" y="6181344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측정 지표는 설계 단계. 실제 수집한 수치나 개선 성과는 없음.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 /  NAVIGATION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5개 하단 메뉴, 실제 구현 단계에 맞춰 노출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IA 전체 비전과 P0 실제 제공 메뉴를 구분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2002536"/>
            <a:ext cx="5550408" cy="3410712"/>
          </a:xfrm>
          <a:prstGeom prst="roundRect">
            <a:avLst>
              <a:gd name="adj" fmla="val 5898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22768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모바일 IA · 목표 구조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3444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1556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4028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☯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2140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4612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☾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12724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5196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13308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상담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3026664"/>
            <a:ext cx="914400" cy="1271016"/>
          </a:xfrm>
          <a:prstGeom prst="roundRect">
            <a:avLst>
              <a:gd name="adj" fmla="val 14000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57800" y="32369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☷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5138928" y="3831336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01968" y="2002536"/>
            <a:ext cx="4809744" cy="3410712"/>
          </a:xfrm>
          <a:prstGeom prst="roundRect">
            <a:avLst>
              <a:gd name="adj" fmla="val 5898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85432" y="227685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P0 운영 정책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912864" y="2871216"/>
            <a:ext cx="3959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홈 · 내 사주 · AI 상담 중심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미구현 메뉴는 동작하는 척하지 않음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시안에서는 “콘셉트 보기” 명시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✓ P1 출시 후 내비게이션 확장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" y="5916168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사용성 테스트 질문: 첫 방문자가 대운·토정비결·직업운을 예상한 메뉴에서 찾을 수 있는가?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 /  DESIGN LANGUAGE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신비로움은 배경에, 정보는 읽기 쉬운 카드에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Midnight Stardust · 네이비×아이보리×라벤더, 절제된 반짝임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0392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MIDNIGHT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FCF9F3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54680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IVORY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85816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C6B7FF"/>
          </a:solidFill>
          <a:ln w="12700">
            <a:solidFill>
              <a:srgbClr val="C6B7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58968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LAVENDER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90104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63256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STARDUST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94392" y="2020824"/>
            <a:ext cx="2148840" cy="1554480"/>
          </a:xfrm>
          <a:prstGeom prst="roundRect">
            <a:avLst>
              <a:gd name="adj" fmla="val 11765"/>
            </a:avLst>
          </a:prstGeom>
          <a:solidFill>
            <a:srgbClr val="A9E5D5"/>
          </a:solidFill>
          <a:ln w="12700">
            <a:solidFill>
              <a:srgbClr val="A9E5D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67544" y="370332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" y="4224528"/>
            <a:ext cx="510235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7552" y="43982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시각 경험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4837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별빛·오라·캐릭터로 감성 제공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효과는 장식 영역에 제한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17336" y="4224528"/>
            <a:ext cx="510235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0" y="43982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이용 경험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4837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CTA 1개 · 적절한 대비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움직임 줄이기 · 용어 설명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6025896"/>
            <a:ext cx="10744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주의: “예쁘다”보다 ‘과제를 쉽게 완료했다’는 사용성 테스트 증거가 필요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 /  MOBILE UX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입력부터 해석·상담까지, 한 화면에 한 가지 핵심 행동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화면 모두 가상 데이터를 사용한 편집 가능한 UI 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06424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11162F"/>
          </a:solidFill>
          <a:ln w="12700">
            <a:solidFill>
              <a:srgbClr val="11162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68429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52728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 포포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76865" y="2788920"/>
            <a:ext cx="2743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9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739" dirty="0"/>
          </a:p>
        </p:txBody>
      </p:sp>
      <p:sp>
        <p:nvSpPr>
          <p:cNvPr id="13" name="Text 11"/>
          <p:cNvSpPr/>
          <p:nvPr/>
        </p:nvSpPr>
        <p:spPr>
          <a:xfrm>
            <a:off x="1793413" y="3566160"/>
            <a:ext cx="197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2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252" dirty="0"/>
          </a:p>
        </p:txBody>
      </p:sp>
      <p:sp>
        <p:nvSpPr>
          <p:cNvPr id="14" name="Text 12"/>
          <p:cNvSpPr/>
          <p:nvPr/>
        </p:nvSpPr>
        <p:spPr>
          <a:xfrm>
            <a:off x="1252728" y="268833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오늘, 나의 별을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만나는 시간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52728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CB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사주도 쉽게 풀어드려요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52728" y="4325112"/>
            <a:ext cx="2423160" cy="512064"/>
          </a:xfrm>
          <a:prstGeom prst="roundRect">
            <a:avLst>
              <a:gd name="adj" fmla="val 23214"/>
            </a:avLst>
          </a:prstGeom>
          <a:solidFill>
            <a:srgbClr val="C6B7FF"/>
          </a:solidFill>
          <a:ln w="12700">
            <a:solidFill>
              <a:srgbClr val="C6B7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 보기   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52728" y="5175504"/>
            <a:ext cx="2423160" cy="694944"/>
          </a:xfrm>
          <a:prstGeom prst="roundRect">
            <a:avLst>
              <a:gd name="adj" fmla="val 28947"/>
            </a:avLst>
          </a:prstGeom>
          <a:solidFill>
            <a:srgbClr val="302A53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80744" y="52760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3D7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  나의 일주 친구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0744" y="5577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CBD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 속 나를 닮은 상징 찾기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6800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08576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09160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571165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55464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‹   나의 명식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55464" y="2624328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사주를 한눈에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55464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용어부터 외울 필요 없어요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7375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8289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375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—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87375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—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7954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868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7954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甲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47954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子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08533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9447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월주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533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丙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08533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寅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691122" y="3429000"/>
            <a:ext cx="541782" cy="1097280"/>
          </a:xfrm>
          <a:prstGeom prst="roundRect">
            <a:avLst>
              <a:gd name="adj" fmla="val 16878"/>
            </a:avLst>
          </a:prstGeom>
          <a:solidFill>
            <a:srgbClr val="F7F5F8"/>
          </a:solidFill>
          <a:ln w="12700">
            <a:solidFill>
              <a:srgbClr val="F7F5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700266" y="3502152"/>
            <a:ext cx="514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년주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91122" y="3794760"/>
            <a:ext cx="541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乙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691122" y="4105656"/>
            <a:ext cx="5417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8306A"/>
                </a:solidFill>
                <a:latin typeface="Noto Serif CJK KR" pitchFamily="34" charset="0"/>
                <a:ea typeface="Noto Serif CJK KR" pitchFamily="34" charset="-122"/>
                <a:cs typeface="Noto Serif CJK KR" pitchFamily="34" charset="-120"/>
              </a:rPr>
              <a:t>巳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855464" y="4700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ⓘ 시주는 시간 미상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55464" y="5175504"/>
            <a:ext cx="2423160" cy="713232"/>
          </a:xfrm>
          <a:prstGeom prst="roundRect">
            <a:avLst>
              <a:gd name="adj" fmla="val 28205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974336" y="5266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나의 사주 이해하기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74336" y="5577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쉬운 풀이   →   자세히 보기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79536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220456" y="1810512"/>
            <a:ext cx="2916936" cy="4315968"/>
          </a:xfrm>
          <a:prstGeom prst="roundRect">
            <a:avLst>
              <a:gd name="adj" fmla="val 10031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8321040" y="1901952"/>
            <a:ext cx="2715768" cy="4133088"/>
          </a:xfrm>
          <a:prstGeom prst="roundRect">
            <a:avLst>
              <a:gd name="adj" fmla="val 9091"/>
            </a:avLst>
          </a:prstGeom>
          <a:solidFill>
            <a:srgbClr val="FCF9F3"/>
          </a:solidFill>
          <a:ln w="12700">
            <a:solidFill>
              <a:srgbClr val="FCF9F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9183045" y="1911096"/>
            <a:ext cx="991758" cy="155448"/>
          </a:xfrm>
          <a:prstGeom prst="roundRect">
            <a:avLst>
              <a:gd name="adj" fmla="val 41176"/>
            </a:avLst>
          </a:prstGeom>
          <a:solidFill>
            <a:srgbClr val="221E3B"/>
          </a:solidFill>
          <a:ln w="12700">
            <a:solidFill>
              <a:srgbClr val="221E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467344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‹   내 사주 해석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467344" y="2624328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궁금한 이야기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467344" y="3081528"/>
            <a:ext cx="932688" cy="274320"/>
          </a:xfrm>
          <a:prstGeom prst="roundRect">
            <a:avLst>
              <a:gd name="adj" fmla="val 40000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558784" y="311810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인생 총운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491472" y="3081528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582912" y="3118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직업운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67344" y="3593592"/>
            <a:ext cx="2423160" cy="159105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631936" y="3758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✧ 쉬운 풀이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631936" y="4123944"/>
            <a:ext cx="2148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먼저 핵심을 이해하고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깊은 설명은 선택해서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읽어볼 수 있어요.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467344" y="5422392"/>
            <a:ext cx="2423160" cy="502920"/>
          </a:xfrm>
          <a:prstGeom prst="roundRect">
            <a:avLst>
              <a:gd name="adj" fmla="val 23636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577072" y="5541264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AI에게 더 물어보기  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591416" y="5943600"/>
            <a:ext cx="109728" cy="109728"/>
          </a:xfrm>
          <a:prstGeom prst="ellipse">
            <a:avLst/>
          </a:prstGeom>
          <a:solidFill>
            <a:srgbClr val="797187"/>
          </a:solidFill>
          <a:ln w="12700">
            <a:solidFill>
              <a:srgbClr val="79718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1728216" y="6153912"/>
            <a:ext cx="1517904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837944" y="61904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홈 / 시작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03520" y="6153912"/>
            <a:ext cx="1591056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413248" y="6190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명식 결과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33104" y="6153912"/>
            <a:ext cx="1773936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942832" y="61904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풀이 → 질문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  /  CHARACTER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60갑자 일주별 친구 + 내가 선택하는 꾸미기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단순히 60장의 그림이 아니라, 명식 ID와 연결된 재현 가능한 개인화 정책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6696" y="2011680"/>
            <a:ext cx="2880360" cy="2880360"/>
          </a:xfrm>
          <a:prstGeom prst="ellipse">
            <a:avLst/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772107" y="3183575"/>
            <a:ext cx="1609710" cy="1609710"/>
          </a:xfrm>
          <a:prstGeom prst="ellipse">
            <a:avLst/>
          </a:prstGeom>
          <a:solidFill>
            <a:srgbClr val="DAD2FA"/>
          </a:solidFill>
          <a:ln w="1905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20100000">
            <a:off x="1851111" y="2571293"/>
            <a:ext cx="444398" cy="1066556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500000">
            <a:off x="2947294" y="2620670"/>
            <a:ext cx="414772" cy="1007303"/>
          </a:xfrm>
          <a:prstGeom prst="ellipse">
            <a:avLst/>
          </a:prstGeom>
          <a:solidFill>
            <a:srgbClr val="DAD2FA"/>
          </a:solidFill>
          <a:ln w="22860">
            <a:solidFill>
              <a:srgbClr val="978BD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256008" y="3953866"/>
            <a:ext cx="148133" cy="148133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58414" y="3953866"/>
            <a:ext cx="148133" cy="148133"/>
          </a:xfrm>
          <a:prstGeom prst="ellipse">
            <a:avLst/>
          </a:prstGeom>
          <a:solidFill>
            <a:srgbClr val="393254"/>
          </a:solidFill>
          <a:ln w="12700">
            <a:solidFill>
              <a:srgbClr val="39325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226381" y="3924239"/>
            <a:ext cx="44440" cy="4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838663" y="3924239"/>
            <a:ext cx="44440" cy="4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038746" y="4269882"/>
            <a:ext cx="296266" cy="118506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06547" y="4269882"/>
            <a:ext cx="296266" cy="118506"/>
          </a:xfrm>
          <a:prstGeom prst="ellipse">
            <a:avLst/>
          </a:prstGeom>
          <a:solidFill>
            <a:srgbClr val="F3A8B9">
              <a:alpha val="7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42398" y="4210629"/>
            <a:ext cx="2765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44" b="1" dirty="0">
                <a:solidFill>
                  <a:srgbClr val="39325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⌣</a:t>
            </a:r>
            <a:endParaRPr lang="en-US" sz="1944" dirty="0"/>
          </a:p>
        </p:txBody>
      </p:sp>
      <p:sp>
        <p:nvSpPr>
          <p:cNvPr id="19" name="Text 17"/>
          <p:cNvSpPr/>
          <p:nvPr/>
        </p:nvSpPr>
        <p:spPr>
          <a:xfrm>
            <a:off x="2463394" y="3153948"/>
            <a:ext cx="375270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525219" y="3608222"/>
            <a:ext cx="284415" cy="260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3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803" dirty="0"/>
          </a:p>
        </p:txBody>
      </p:sp>
      <p:sp>
        <p:nvSpPr>
          <p:cNvPr id="21" name="Text 19"/>
          <p:cNvSpPr/>
          <p:nvPr/>
        </p:nvSpPr>
        <p:spPr>
          <a:xfrm>
            <a:off x="3470697" y="3302081"/>
            <a:ext cx="260714" cy="238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3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653" dirty="0"/>
          </a:p>
        </p:txBody>
      </p:sp>
      <p:sp>
        <p:nvSpPr>
          <p:cNvPr id="22" name="Text 20"/>
          <p:cNvSpPr/>
          <p:nvPr/>
        </p:nvSpPr>
        <p:spPr>
          <a:xfrm>
            <a:off x="3675888" y="2084832"/>
            <a:ext cx="230429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1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✦</a:t>
            </a:r>
            <a:endParaRPr lang="en-US" sz="1461" dirty="0"/>
          </a:p>
        </p:txBody>
      </p:sp>
      <p:sp>
        <p:nvSpPr>
          <p:cNvPr id="23" name="Shape 21"/>
          <p:cNvSpPr/>
          <p:nvPr/>
        </p:nvSpPr>
        <p:spPr>
          <a:xfrm>
            <a:off x="1627632" y="4974336"/>
            <a:ext cx="1874520" cy="310896"/>
          </a:xfrm>
          <a:prstGeom prst="roundRect">
            <a:avLst>
              <a:gd name="adj" fmla="val 47059"/>
            </a:avLst>
          </a:prstGeom>
          <a:solidFill>
            <a:srgbClr val="F0EBFA"/>
          </a:solidFill>
          <a:ln w="12700">
            <a:solidFill>
              <a:srgbClr val="F0EBF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737360" y="5010912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 “루미” 예시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93392"/>
            <a:ext cx="6419088" cy="341985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157216" y="2340864"/>
            <a:ext cx="5815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일주(60갑자) → 캐릭터 ID → 고유 시각 자산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48072" y="2926080"/>
            <a:ext cx="567842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 계산된 일주와 캐릭터를 결정적으로 매핑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2. 같은 일주면 같은 기본 캐릭터 (투명하게 안내)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 별모자·리본·배경·표정으로 개별 꾸미기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4. 캐릭터 설명은 전통적 상징과 디자인을 구분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29784" y="4983480"/>
            <a:ext cx="5742432" cy="265176"/>
          </a:xfrm>
          <a:prstGeom prst="roundRect">
            <a:avLst>
              <a:gd name="adj" fmla="val 34483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85232" y="5010912"/>
            <a:ext cx="5468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95F2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P1 시안: 현재 예시 1종 · 60종의 제작·QA는 미실시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4984" y="5961888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 디자인과 문구는 독자 제작 · 삐삐사주 등 타 서비스 자산 복제 금지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 /  NEW-YEAR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토정비결은 “사주 연운”과 다르다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전통 계산법, 괘(卦), 음력 12개월 풀이를 독립 콘텐츠로 구성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5175504" cy="3511296"/>
          </a:xfrm>
          <a:prstGeom prst="roundRect">
            <a:avLst>
              <a:gd name="adj" fmla="val 5729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1560" y="230428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사주·세운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852928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명식 / 간지 / 연도별 흐름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0704" y="3529584"/>
            <a:ext cx="4370832" cy="0"/>
          </a:xfrm>
          <a:prstGeom prst="line">
            <a:avLst/>
          </a:prstGeom>
          <a:noFill/>
          <a:ln w="12700">
            <a:solidFill>
              <a:srgbClr val="C8BF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3776472"/>
            <a:ext cx="4288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기준과 해당 학파의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연운 해석 규칙을 검증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5175504" cy="3511296"/>
          </a:xfrm>
          <a:prstGeom prst="roundRect">
            <a:avLst>
              <a:gd name="adj" fmla="val 5729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01384" y="230428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토정비결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01384" y="2852928"/>
            <a:ext cx="4251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태세·월건·일진 → 상·중·하괘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01384" y="3529584"/>
            <a:ext cx="4398264" cy="0"/>
          </a:xfrm>
          <a:prstGeom prst="line">
            <a:avLst/>
          </a:prstGeom>
          <a:noFill/>
          <a:ln w="12700">
            <a:solidFill>
              <a:srgbClr val="E9D9B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0528" y="3776472"/>
            <a:ext cx="4187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해당 연도 총괘 +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음력 1~12월 풀이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2688" y="5833872"/>
            <a:ext cx="10378440" cy="338328"/>
          </a:xfrm>
          <a:prstGeom prst="roundRect">
            <a:avLst>
              <a:gd name="adj" fmla="val 35135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06424" y="5879592"/>
            <a:ext cx="10030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 원칙: 판본·공식·윤달·원문 이용권한 확인 전 실제 결과 생성 금지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6300216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출처: 한국민족문화대백과사전 「토정비결」 (encykorea.aks.ac.kr/Article/E0059207)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  /  TRUST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AI는 “사주를 계산”하지 않고, 검증된 데이터를 설명한다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정확성을 높이는 시스템 책임 분리와 해석의 한계를 화면에 드러내는 정책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92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78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역법 계산 모듈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년·월·일·시주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 버전·불확실성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42232" y="3044952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5354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640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해석 규칙 모듈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640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오행·십성 등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가능한 전통 규칙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28432" y="3044952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421624" y="2103120"/>
            <a:ext cx="3602736" cy="2103120"/>
          </a:xfrm>
          <a:prstGeom prst="roundRect">
            <a:avLst>
              <a:gd name="adj" fmla="val 9565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50224" y="239572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상담 모듈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50224" y="302666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주제별 설명·근거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문맥 유지·응답 가드레일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72584"/>
            <a:ext cx="5394960" cy="1115568"/>
          </a:xfrm>
          <a:prstGeom prst="roundRect">
            <a:avLst>
              <a:gd name="adj" fmla="val 1803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2688" y="49194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재회: 타인의 마음과 재회 날짜 단정 금지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7064" y="4672584"/>
            <a:ext cx="5266944" cy="1115568"/>
          </a:xfrm>
          <a:prstGeom prst="roundRect">
            <a:avLst>
              <a:gd name="adj" fmla="val 18033"/>
            </a:avLst>
          </a:prstGeom>
          <a:solidFill>
            <a:srgbClr val="FFFFFF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55664" y="49194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건강: 진단·질병·수명·치료 예언 금지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60990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계산값 → 전통적 해석 → 현실적 판단을 화면 문구·응답 스키마에서 명확히 구분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 /  VALIDATION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“예쁘다” 대신 실제 사용성·행동 데이터를 증거로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인터뷰와 실험은 아직 수행 전 — 계획·가설 단계로 표기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77824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7824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정성 조사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5~8명 탐색 인터뷰(계획)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어려운 용어·이탈 구간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5424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FBF5E9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54880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사용성 과제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입력→명식→직업운→AI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과제 성공·멈춤 지점 관찰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167128"/>
            <a:ext cx="3593592" cy="2660904"/>
          </a:xfrm>
          <a:prstGeom prst="roundRect">
            <a:avLst>
              <a:gd name="adj" fmla="val 7560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31936" y="24231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31936" y="29169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퍼널 검증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31936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완료율 · 풀이 진입률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전환율 · 후속 질문률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5239512"/>
            <a:ext cx="10552176" cy="594360"/>
          </a:xfrm>
          <a:prstGeom prst="roundRect">
            <a:avLst>
              <a:gd name="adj" fmla="val 26154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33272" y="5376672"/>
            <a:ext cx="10113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성공의 기준: 주장한 사용자 문제를 확인하고, 수정 전후 과제 수행 결과를 비교할 수 있는가?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6135624"/>
            <a:ext cx="10835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“사용자 80% 만족” 등의 임의 수치, 테스트를 하지 않은 상태의 개선 성과는 기록하지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17  /  DELIVERY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기획부터 검증까지, 채용담당자에게 보여줄 증거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결과물 중심이 아니라 ‘어떤 판단을 내렸고 무엇이 달라졌는지’를 기록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43584" y="2167128"/>
            <a:ext cx="557784" cy="557784"/>
          </a:xfrm>
          <a:prstGeom prst="ellipse">
            <a:avLst/>
          </a:prstGeom>
          <a:solidFill>
            <a:srgbClr val="8570B8"/>
          </a:solidFill>
          <a:ln w="12700">
            <a:solidFill>
              <a:srgbClr val="8570B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89888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56232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6656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정책·엔진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6656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기준 확정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2167128"/>
            <a:ext cx="557784" cy="557784"/>
          </a:xfrm>
          <a:prstGeom prst="ellipse">
            <a:avLst/>
          </a:prstGeom>
          <a:solidFill>
            <a:srgbClr val="8570B8"/>
          </a:solidFill>
          <a:ln w="12700">
            <a:solidFill>
              <a:srgbClr val="8570B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58184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44952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프로토타입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44952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화면·플로우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0176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26480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92824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13248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 개발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13248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원국·AI 연동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48472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94776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81544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검증·QA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81544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테스트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16768" y="2167128"/>
            <a:ext cx="557784" cy="557784"/>
          </a:xfrm>
          <a:prstGeom prst="ellipse">
            <a:avLst/>
          </a:prstGeom>
          <a:solidFill>
            <a:srgbClr val="E5C47A"/>
          </a:solidFill>
          <a:ln w="12700">
            <a:solidFill>
              <a:srgbClr val="E5C47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863072" y="2340864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329416" y="2468880"/>
            <a:ext cx="923544" cy="0"/>
          </a:xfrm>
          <a:prstGeom prst="line">
            <a:avLst/>
          </a:prstGeom>
          <a:noFill/>
          <a:ln w="25400">
            <a:solidFill>
              <a:srgbClr val="C4B5D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149840" y="305409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확장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149840" y="354787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캐릭터·운세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681728"/>
            <a:ext cx="10524744" cy="987552"/>
          </a:xfrm>
          <a:prstGeom prst="roundRect">
            <a:avLst>
              <a:gd name="adj" fmla="val 20370"/>
            </a:avLst>
          </a:prstGeom>
          <a:solidFill>
            <a:srgbClr val="F0EBFA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78992" y="4910328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증거 보관 폴더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79776" y="4873752"/>
            <a:ext cx="8129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PRD · IA · 정책·의사결정 로그 · 화면 상태 · QA 케이스 · 인터뷰/테스트 원본 · 변경 전후 비교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" y="601675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제공물: PRD 변경 제안 · 기능 카탈로그 · 디자인 시스템 · 클릭형 목업 · 2026.10 포트폴리오 PPT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230" kern="0" dirty="0">
                <a:solidFill>
                  <a:srgbClr val="8570B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18  /  RECRUITING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프로젝트는 좋은 시작점, 그러나 아직 “합격용 완성본”은 아니다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71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서비스기획 직무별로 어느 역량을 보여주고 무엇을 보완할지 명확히 판단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b="1" spc="70" kern="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/   PRODUCT PLANNING CASE STUDY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 제안 · 구현·사용자 검증 이전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E899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4944" y="2002536"/>
            <a:ext cx="5266944" cy="3493008"/>
          </a:xfrm>
          <a:prstGeom prst="roundRect">
            <a:avLst>
              <a:gd name="adj" fmla="val 5759"/>
            </a:avLst>
          </a:prstGeom>
          <a:solidFill>
            <a:srgbClr val="EDF8F4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32688" y="226771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2416" y="230428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8F8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강하게 보여줄 수 있는 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2871216"/>
            <a:ext cx="46817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B2C 서비스 구조·UX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활용 정책·프롬프트 연동 설계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기능 우선순위·예외·QA 설계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2002536"/>
            <a:ext cx="5330952" cy="3493008"/>
          </a:xfrm>
          <a:prstGeom prst="roundRect">
            <a:avLst>
              <a:gd name="adj" fmla="val 5759"/>
            </a:avLst>
          </a:prstGeom>
          <a:solidFill>
            <a:srgbClr val="FDF0F3"/>
          </a:solidFill>
          <a:ln w="11430">
            <a:solidFill>
              <a:srgbClr val="E6E0E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9944" y="2267712"/>
            <a:ext cx="2093976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19672" y="23042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C6C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아직 증명되지 않은 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64808" y="2871216"/>
            <a:ext cx="47183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사용자 문제의 존재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정확한 역법 계산·AI 품질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25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운영·성과 개선·팀 협업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8096" y="5980176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8306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전략: 포포(B2C·AI·UX) + 별도 업무 서비스 프로젝트(B2B)를 직무별로 조합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000" b="1">
                <a:solidFill>
                  <a:srgbClr val="8570B8"/>
                </a:solidFill>
                <a:latin typeface="NanumSquare"/>
              </a:rPr>
              <a:t>19  /  REQUIREMENT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2700" b="1">
                <a:solidFill>
                  <a:srgbClr val="24253D"/>
                </a:solidFill>
                <a:latin typeface="NanumSquare"/>
              </a:rPr>
              <a:t>설계 이유부터 테스트 증거까지 연결하는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5389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200" b="0">
                <a:solidFill>
                  <a:srgbClr val="6F7184"/>
                </a:solidFill>
                <a:latin typeface="NanumSquare"/>
              </a:rPr>
              <a:t>교육 캡스톤의 기록 원칙만 참고 · 포포은 별도의 B2C 서비스기획 프로젝트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84248"/>
            <a:ext cx="2496312" cy="475488"/>
          </a:xfrm>
          <a:prstGeom prst="roundRect">
            <a:avLst>
              <a:gd name="adj" fmla="val 11000"/>
            </a:avLst>
          </a:prstGeom>
          <a:solidFill>
            <a:srgbClr val="38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84831"/>
            <a:ext cx="2313432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"/>
              </a:rPr>
              <a:t>요구사항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984248"/>
            <a:ext cx="2743200" cy="475488"/>
          </a:xfrm>
          <a:prstGeom prst="roundRect">
            <a:avLst>
              <a:gd name="adj" fmla="val 11000"/>
            </a:avLst>
          </a:prstGeom>
          <a:solidFill>
            <a:srgbClr val="38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84831"/>
            <a:ext cx="2560320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"/>
              </a:rPr>
              <a:t>정책 ·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84248"/>
            <a:ext cx="2880360" cy="475488"/>
          </a:xfrm>
          <a:prstGeom prst="roundRect">
            <a:avLst>
              <a:gd name="adj" fmla="val 11000"/>
            </a:avLst>
          </a:prstGeom>
          <a:solidFill>
            <a:srgbClr val="38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2084831"/>
            <a:ext cx="2697479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"/>
              </a:rPr>
              <a:t>검증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0848" y="1984248"/>
            <a:ext cx="2322576" cy="475488"/>
          </a:xfrm>
          <a:prstGeom prst="roundRect">
            <a:avLst>
              <a:gd name="adj" fmla="val 11000"/>
            </a:avLst>
          </a:prstGeom>
          <a:solidFill>
            <a:srgbClr val="38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0576" y="2084831"/>
            <a:ext cx="2139696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"/>
              </a:rPr>
              <a:t>현재 증거 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587752"/>
            <a:ext cx="2496312" cy="832104"/>
          </a:xfrm>
          <a:prstGeom prst="roundRect">
            <a:avLst>
              <a:gd name="adj" fmla="val 11000"/>
            </a:avLst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9272" y="2587752"/>
            <a:ext cx="2743200" cy="832104"/>
          </a:xfrm>
          <a:prstGeom prst="roundRect">
            <a:avLst>
              <a:gd name="adj" fmla="val 11000"/>
            </a:avLst>
          </a:prstGeom>
          <a:solidFill>
            <a:srgbClr val="FB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2587752"/>
            <a:ext cx="2880360" cy="832104"/>
          </a:xfrm>
          <a:prstGeom prst="roundRect">
            <a:avLst>
              <a:gd name="adj" fmla="val 11000"/>
            </a:avLst>
          </a:prstGeom>
          <a:solidFill>
            <a:srgbClr val="ED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70848" y="2587752"/>
            <a:ext cx="2322576" cy="832104"/>
          </a:xfrm>
          <a:prstGeom prst="roundRect">
            <a:avLst>
              <a:gd name="adj" fmla="val 11000"/>
            </a:avLst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724912"/>
            <a:ext cx="2331720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200" b="1">
                <a:solidFill>
                  <a:srgbClr val="24253D"/>
                </a:solidFill>
                <a:latin typeface="NanumSquare"/>
              </a:rPr>
              <a:t>FR-004  출생시간 모름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724912"/>
            <a:ext cx="257860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시주를 임의 생성하지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724912"/>
            <a:ext cx="271576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QA-004 미상 입력·결과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724912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A76378"/>
                </a:solidFill>
                <a:latin typeface="NanumSquare"/>
              </a:rPr>
              <a:t>미실행 / 실제 계산 미구현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38728"/>
            <a:ext cx="2496312" cy="83210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19272" y="3538728"/>
            <a:ext cx="2743200" cy="83210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538728"/>
            <a:ext cx="2880360" cy="83210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70848" y="3538728"/>
            <a:ext cx="2322576" cy="83210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675888"/>
            <a:ext cx="2331720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200" b="1">
                <a:solidFill>
                  <a:srgbClr val="24253D"/>
                </a:solidFill>
                <a:latin typeface="NanumSquare"/>
              </a:rPr>
              <a:t>FR-020  풀이→AI 질문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3675888"/>
            <a:ext cx="257860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명식/선택 주제 문맥 전달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675888"/>
            <a:ext cx="271576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QA-010 상담 연결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67588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A76378"/>
                </a:solidFill>
                <a:latin typeface="NanumSquare"/>
              </a:rPr>
              <a:t>미실행 / AI 모델 미연결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489704"/>
            <a:ext cx="2496312" cy="832104"/>
          </a:xfrm>
          <a:prstGeom prst="roundRect">
            <a:avLst>
              <a:gd name="adj" fmla="val 11000"/>
            </a:avLst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19272" y="4489704"/>
            <a:ext cx="2743200" cy="832104"/>
          </a:xfrm>
          <a:prstGeom prst="roundRect">
            <a:avLst>
              <a:gd name="adj" fmla="val 11000"/>
            </a:avLst>
          </a:prstGeom>
          <a:solidFill>
            <a:srgbClr val="FB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4489704"/>
            <a:ext cx="2880360" cy="832104"/>
          </a:xfrm>
          <a:prstGeom prst="roundRect">
            <a:avLst>
              <a:gd name="adj" fmla="val 11000"/>
            </a:avLst>
          </a:prstGeom>
          <a:solidFill>
            <a:srgbClr val="ED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70848" y="4489704"/>
            <a:ext cx="2322576" cy="832104"/>
          </a:xfrm>
          <a:prstGeom prst="roundRect">
            <a:avLst>
              <a:gd name="adj" fmla="val 11000"/>
            </a:avLst>
          </a:prstGeom>
          <a:solidFill>
            <a:srgbClr val="F0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4626864"/>
            <a:ext cx="2331720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200" b="1">
                <a:solidFill>
                  <a:srgbClr val="24253D"/>
                </a:solidFill>
                <a:latin typeface="NanumSquare"/>
              </a:rPr>
              <a:t>V04-004  토정비결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856" y="4626864"/>
            <a:ext cx="257860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사주 연운과 별도 계산·풀이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064" y="4626864"/>
            <a:ext cx="2715768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24253D"/>
                </a:solidFill>
                <a:latin typeface="NanumSquare"/>
              </a:rPr>
              <a:t>AI-T10 계산 규칙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626864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100" b="0">
                <a:solidFill>
                  <a:srgbClr val="A76378"/>
                </a:solidFill>
                <a:latin typeface="NanumSquare"/>
              </a:rPr>
              <a:t>미실행 / 화면 시안만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5586984"/>
            <a:ext cx="10652760" cy="484632"/>
          </a:xfrm>
          <a:prstGeom prst="roundRect">
            <a:avLst>
              <a:gd name="adj" fmla="val 11000"/>
            </a:avLst>
          </a:prstGeom>
          <a:solidFill>
            <a:srgbClr val="38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687568"/>
            <a:ext cx="10149840" cy="2377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"/>
              </a:rPr>
              <a:t>시안 동작 ≠ 실제 역법·AI 구현 ≠ 사용자 검증 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6208776"/>
            <a:ext cx="10744200" cy="2194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1000" b="0">
                <a:solidFill>
                  <a:srgbClr val="6F7184"/>
                </a:solidFill>
                <a:latin typeface="NanumSquare"/>
              </a:rPr>
              <a:t>GitHub: docs/11-requirement-test-evidence-matrix.csv  ·  qa/01-test-cases.csv  ·  evidence/README.md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6309360" cy="16459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800" b="1">
                <a:solidFill>
                  <a:srgbClr val="8E899B"/>
                </a:solidFill>
                <a:latin typeface="NanumSquare"/>
              </a:rPr>
              <a:t>POPO   /   PRODUCT PLANNING CASE STUDY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6501384"/>
            <a:ext cx="4754880" cy="2011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800" b="0">
                <a:solidFill>
                  <a:srgbClr val="8E899B"/>
                </a:solidFill>
                <a:latin typeface="NanumSquare"/>
              </a:rPr>
              <a:t>기획 제안 · 구현·사용자 검증 이전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03152" y="6501384"/>
            <a:ext cx="228600" cy="20116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r>
              <a:rPr sz="800" b="0">
                <a:solidFill>
                  <a:srgbClr val="8E899B"/>
                </a:solidFill>
                <a:latin typeface="NanumSquar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0" y="17373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852160" y="45720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149840" y="1371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383280" y="42062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0" y="10058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3840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12080" y="6400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509760" y="34747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43200" y="274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40880" y="31089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59436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869680" y="557784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03120" y="23774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52120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698480" y="20116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31920" y="48463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0" y="16459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463040" y="44805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760720" y="12801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58400" y="41148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9144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89520" y="37490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548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120640" y="33832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18320" y="1828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651760" y="301752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949440" y="585216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82880" y="265176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480560" y="548640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778240" y="228600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011680" y="51206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09360" y="192024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607040" y="4754880"/>
            <a:ext cx="50292" cy="50292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840480" y="1554480"/>
            <a:ext cx="29261" cy="29261"/>
          </a:xfrm>
          <a:prstGeom prst="ellipse">
            <a:avLst/>
          </a:prstGeom>
          <a:solidFill>
            <a:srgbClr val="E6D6AD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41248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200" kern="0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POPO   ✦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2104" y="1572768"/>
            <a:ext cx="106801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사주를 더 많이 보여주는 서비스가 아니라,</a:t>
            </a:r>
            <a:endParaRPr lang="en-US" sz="3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이해하고 질문하도록 설계한 서비스.</a:t>
            </a:r>
            <a:endParaRPr lang="en-US" sz="3500" dirty="0"/>
          </a:p>
        </p:txBody>
      </p:sp>
      <p:sp>
        <p:nvSpPr>
          <p:cNvPr id="39" name="Shape 37"/>
          <p:cNvSpPr/>
          <p:nvPr/>
        </p:nvSpPr>
        <p:spPr>
          <a:xfrm>
            <a:off x="850392" y="3995928"/>
            <a:ext cx="6967728" cy="795528"/>
          </a:xfrm>
          <a:prstGeom prst="roundRect">
            <a:avLst>
              <a:gd name="adj" fmla="val 21839"/>
            </a:avLst>
          </a:prstGeom>
          <a:solidFill>
            <a:srgbClr val="38306A"/>
          </a:solidFill>
          <a:ln w="12700">
            <a:solidFill>
              <a:srgbClr val="383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97280" y="4215384"/>
            <a:ext cx="6519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9E2F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기획안 v0.6   /   클릭형 UI 목업   /   정책·검증 계획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6968" y="5175504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5C47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실행 목표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6112" y="5687568"/>
            <a:ext cx="10515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D1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 정책 검증 → 5~8명 사용자 인터뷰(계획) → P0 동작 → QA·전환 지표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112" y="6419088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A1C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사용자 조사와 실제 MVP 구현 완료를 주장하지 않습니다.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명리온 | 서비스 기획 포트폴리오 v0.4 제안</dc:title>
  <dc:subject>IT 서비스 기획 포트폴리오 — 제품 전략과 UX 설계안</dc:subject>
  <dc:creator>명리온 프로젝트</dc:creator>
  <cp:lastModifiedBy>명리온 프로젝트</cp:lastModifiedBy>
  <cp:revision>1</cp:revision>
  <dcterms:created xsi:type="dcterms:W3CDTF">2026-10-29T01:09:48Z</dcterms:created>
  <dcterms:modified xsi:type="dcterms:W3CDTF">2026-10-29T01:09:48Z</dcterms:modified>
</cp:coreProperties>
</file>